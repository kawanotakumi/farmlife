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2" r:id="rId6"/>
    <p:sldId id="260" r:id="rId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852" autoAdjust="0"/>
    <p:restoredTop sz="94660"/>
  </p:normalViewPr>
  <p:slideViewPr>
    <p:cSldViewPr snapToGrid="0">
      <p:cViewPr varScale="1">
        <p:scale>
          <a:sx n="76" d="100"/>
          <a:sy n="76" d="100"/>
        </p:scale>
        <p:origin x="68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28252439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21987549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22802114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14472033-EBEF-4113-884E-480E233F66C8}" type="datetimeFigureOut">
              <a:rPr kumimoji="1" lang="ja-JP" altLang="en-US" smtClean="0"/>
              <a:t>2026/4/20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5573957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14472033-EBEF-4113-884E-480E233F66C8}" type="datetimeFigureOut">
              <a:rPr kumimoji="1" lang="ja-JP" altLang="en-US" smtClean="0"/>
              <a:t>2026/4/20</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340906362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14472033-EBEF-4113-884E-480E233F66C8}" type="datetimeFigureOut">
              <a:rPr kumimoji="1" lang="ja-JP" altLang="en-US" smtClean="0"/>
              <a:t>2026/4/20</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5759259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14472033-EBEF-4113-884E-480E233F66C8}" type="datetimeFigureOut">
              <a:rPr kumimoji="1" lang="ja-JP" altLang="en-US" smtClean="0"/>
              <a:t>2026/4/20</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1202712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4472033-EBEF-4113-884E-480E233F66C8}" type="datetimeFigureOut">
              <a:rPr kumimoji="1" lang="ja-JP" altLang="en-US" smtClean="0"/>
              <a:t>2026/4/20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35248685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14472033-EBEF-4113-884E-480E233F66C8}" type="datetimeFigureOut">
              <a:rPr kumimoji="1" lang="ja-JP" altLang="en-US" smtClean="0"/>
              <a:t>2026/4/20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940784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10226751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14472033-EBEF-4113-884E-480E233F66C8}" type="datetimeFigureOut">
              <a:rPr kumimoji="1" lang="ja-JP" altLang="en-US" smtClean="0"/>
              <a:t>2026/4/20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31779155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4472033-EBEF-4113-884E-480E233F66C8}" type="datetimeFigureOut">
              <a:rPr kumimoji="1" lang="ja-JP" altLang="en-US" smtClean="0"/>
              <a:t>2026/4/20</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90CEF0D-0C91-4D1D-ACE5-4506246EE138}" type="slidenum">
              <a:rPr kumimoji="1" lang="ja-JP" altLang="en-US" smtClean="0"/>
              <a:t>‹#›</a:t>
            </a:fld>
            <a:endParaRPr kumimoji="1" lang="ja-JP" altLang="en-US"/>
          </a:p>
        </p:txBody>
      </p:sp>
    </p:spTree>
    <p:extLst>
      <p:ext uri="{BB962C8B-B14F-4D97-AF65-F5344CB8AC3E}">
        <p14:creationId xmlns:p14="http://schemas.microsoft.com/office/powerpoint/2010/main" val="27063180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90675" y="2264228"/>
            <a:ext cx="9144000" cy="1115107"/>
          </a:xfrm>
        </p:spPr>
        <p:txBody>
          <a:bodyPr/>
          <a:lstStyle/>
          <a:p>
            <a:r>
              <a:rPr lang="en-US" altLang="ja-JP" b="1" dirty="0" err="1"/>
              <a:t>FarmLife</a:t>
            </a:r>
            <a:endParaRPr kumimoji="1" lang="ja-JP" altLang="en-US" b="1" dirty="0"/>
          </a:p>
        </p:txBody>
      </p:sp>
      <p:sp>
        <p:nvSpPr>
          <p:cNvPr id="3" name="サブタイトル 2"/>
          <p:cNvSpPr>
            <a:spLocks noGrp="1"/>
          </p:cNvSpPr>
          <p:nvPr>
            <p:ph type="subTitle" idx="1"/>
          </p:nvPr>
        </p:nvSpPr>
        <p:spPr>
          <a:xfrm>
            <a:off x="1590675" y="4880202"/>
            <a:ext cx="9144000" cy="912812"/>
          </a:xfrm>
        </p:spPr>
        <p:txBody>
          <a:bodyPr/>
          <a:lstStyle/>
          <a:p>
            <a:r>
              <a:rPr lang="ja-JP" altLang="en-US" dirty="0" smtClean="0"/>
              <a:t>作成環境　</a:t>
            </a:r>
            <a:r>
              <a:rPr kumimoji="1" lang="en-US" altLang="ja-JP" dirty="0" err="1" smtClean="0"/>
              <a:t>UnrealEngin</a:t>
            </a:r>
            <a:r>
              <a:rPr kumimoji="1" lang="en-US" altLang="ja-JP" dirty="0" smtClean="0"/>
              <a:t> </a:t>
            </a:r>
            <a:r>
              <a:rPr kumimoji="1" lang="en-US" altLang="ja-JP" dirty="0"/>
              <a:t>5.5.4</a:t>
            </a:r>
          </a:p>
          <a:p>
            <a:r>
              <a:rPr lang="ja-JP" altLang="en-US" dirty="0"/>
              <a:t>ジャンル　</a:t>
            </a:r>
            <a:r>
              <a:rPr lang="en-US" altLang="ja-JP" dirty="0"/>
              <a:t>3D</a:t>
            </a:r>
            <a:r>
              <a:rPr lang="ja-JP" altLang="en-US" dirty="0"/>
              <a:t>アクションゲーム</a:t>
            </a:r>
            <a:endParaRPr lang="en-US" altLang="ja-JP" dirty="0"/>
          </a:p>
        </p:txBody>
      </p:sp>
      <p:sp>
        <p:nvSpPr>
          <p:cNvPr id="4" name="テキスト ボックス 3"/>
          <p:cNvSpPr txBox="1"/>
          <p:nvPr/>
        </p:nvSpPr>
        <p:spPr>
          <a:xfrm>
            <a:off x="9144000" y="6132352"/>
            <a:ext cx="2684477" cy="369332"/>
          </a:xfrm>
          <a:prstGeom prst="rect">
            <a:avLst/>
          </a:prstGeom>
          <a:noFill/>
        </p:spPr>
        <p:txBody>
          <a:bodyPr wrap="square" rtlCol="0">
            <a:spAutoFit/>
          </a:bodyPr>
          <a:lstStyle/>
          <a:p>
            <a:r>
              <a:rPr lang="ja-JP" altLang="en-US" dirty="0"/>
              <a:t>河野　拓実</a:t>
            </a:r>
            <a:endParaRPr kumimoji="1" lang="ja-JP" altLang="en-US" dirty="0"/>
          </a:p>
        </p:txBody>
      </p:sp>
    </p:spTree>
    <p:extLst>
      <p:ext uri="{BB962C8B-B14F-4D97-AF65-F5344CB8AC3E}">
        <p14:creationId xmlns:p14="http://schemas.microsoft.com/office/powerpoint/2010/main" val="126331106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838200" y="365125"/>
            <a:ext cx="3835400" cy="1325563"/>
          </a:xfrm>
        </p:spPr>
        <p:txBody>
          <a:bodyPr/>
          <a:lstStyle/>
          <a:p>
            <a:r>
              <a:rPr kumimoji="1" lang="ja-JP" altLang="en-US" b="1" dirty="0"/>
              <a:t>ゲームの目的</a:t>
            </a:r>
          </a:p>
        </p:txBody>
      </p:sp>
      <p:sp>
        <p:nvSpPr>
          <p:cNvPr id="3" name="コンテンツ プレースホルダー 2"/>
          <p:cNvSpPr>
            <a:spLocks noGrp="1"/>
          </p:cNvSpPr>
          <p:nvPr>
            <p:ph idx="1"/>
          </p:nvPr>
        </p:nvSpPr>
        <p:spPr>
          <a:xfrm>
            <a:off x="838200" y="1526796"/>
            <a:ext cx="10515600" cy="4666945"/>
          </a:xfrm>
        </p:spPr>
        <p:txBody>
          <a:bodyPr>
            <a:normAutofit fontScale="92500" lnSpcReduction="10000"/>
          </a:bodyPr>
          <a:lstStyle/>
          <a:p>
            <a:r>
              <a:rPr kumimoji="1" lang="ja-JP" altLang="en-US" dirty="0"/>
              <a:t>畑に生成される作物を採取し、得たお金で自身を</a:t>
            </a:r>
            <a:r>
              <a:rPr kumimoji="1" lang="ja-JP" altLang="en-US" dirty="0" smtClean="0"/>
              <a:t>強化し、</a:t>
            </a:r>
            <a:endParaRPr kumimoji="1" lang="en-US" altLang="ja-JP" dirty="0" smtClean="0"/>
          </a:p>
          <a:p>
            <a:pPr marL="0" indent="0">
              <a:buNone/>
            </a:pPr>
            <a:r>
              <a:rPr lang="ja-JP" altLang="en-US" dirty="0"/>
              <a:t>　</a:t>
            </a:r>
            <a:r>
              <a:rPr kumimoji="1" lang="ja-JP" altLang="en-US" dirty="0" smtClean="0"/>
              <a:t>より</a:t>
            </a:r>
            <a:r>
              <a:rPr kumimoji="1" lang="ja-JP" altLang="en-US" dirty="0" smtClean="0"/>
              <a:t>稼ぎやすく</a:t>
            </a:r>
            <a:r>
              <a:rPr lang="ja-JP" altLang="en-US" dirty="0" smtClean="0"/>
              <a:t>して目標</a:t>
            </a:r>
            <a:r>
              <a:rPr lang="ja-JP" altLang="en-US" dirty="0" smtClean="0"/>
              <a:t>金額</a:t>
            </a:r>
            <a:r>
              <a:rPr lang="ja-JP" altLang="en-US" dirty="0" smtClean="0"/>
              <a:t>まで早く到達</a:t>
            </a:r>
            <a:r>
              <a:rPr lang="ja-JP" altLang="en-US" dirty="0" smtClean="0"/>
              <a:t>すること。</a:t>
            </a:r>
            <a:endParaRPr lang="en-US" altLang="ja-JP" dirty="0"/>
          </a:p>
          <a:p>
            <a:endParaRPr lang="en-US" altLang="ja-JP" dirty="0"/>
          </a:p>
          <a:p>
            <a:r>
              <a:rPr lang="ja-JP" altLang="en-US" b="1" dirty="0"/>
              <a:t>クリア目標</a:t>
            </a:r>
            <a:endParaRPr lang="en-US" altLang="ja-JP" b="1" dirty="0"/>
          </a:p>
          <a:p>
            <a:r>
              <a:rPr lang="ja-JP" altLang="en-US" dirty="0" smtClean="0"/>
              <a:t>ステージ毎の目標ゴールド</a:t>
            </a:r>
            <a:r>
              <a:rPr lang="ja-JP" altLang="en-US" dirty="0"/>
              <a:t>稼ぐことで</a:t>
            </a:r>
            <a:r>
              <a:rPr lang="ja-JP" altLang="en-US" dirty="0" smtClean="0"/>
              <a:t>クリア</a:t>
            </a:r>
            <a:endParaRPr lang="en-US" altLang="ja-JP" dirty="0" smtClean="0"/>
          </a:p>
          <a:p>
            <a:endParaRPr lang="en-US" altLang="ja-JP" dirty="0"/>
          </a:p>
          <a:p>
            <a:r>
              <a:rPr lang="ja-JP" altLang="en-US" b="1" u="sng" dirty="0"/>
              <a:t>クリア時点の経過時間、採取した作物の合計個数</a:t>
            </a:r>
            <a:r>
              <a:rPr lang="ja-JP" altLang="en-US" dirty="0" smtClean="0"/>
              <a:t>でスコア</a:t>
            </a:r>
            <a:r>
              <a:rPr lang="ja-JP" altLang="en-US" dirty="0"/>
              <a:t>が決まりランク付けされる</a:t>
            </a:r>
            <a:r>
              <a:rPr lang="ja-JP" altLang="en-US" dirty="0" smtClean="0"/>
              <a:t>。（Ｓ、Ａ、Ｂ、Ｃ）</a:t>
            </a:r>
            <a:endParaRPr lang="en-US" altLang="ja-JP" dirty="0" smtClean="0"/>
          </a:p>
          <a:p>
            <a:r>
              <a:rPr lang="ja-JP" altLang="en-US" dirty="0" smtClean="0"/>
              <a:t>早く</a:t>
            </a:r>
            <a:r>
              <a:rPr lang="ja-JP" altLang="en-US" dirty="0"/>
              <a:t>、少ない個数でクリアするほど高得点を</a:t>
            </a:r>
            <a:r>
              <a:rPr lang="ja-JP" altLang="en-US" dirty="0" smtClean="0"/>
              <a:t>得れる</a:t>
            </a:r>
            <a:endParaRPr lang="en-US" altLang="ja-JP" dirty="0" smtClean="0"/>
          </a:p>
          <a:p>
            <a:r>
              <a:rPr lang="en-US" altLang="ja-JP" dirty="0" smtClean="0"/>
              <a:t>S</a:t>
            </a:r>
            <a:r>
              <a:rPr lang="ja-JP" altLang="en-US" dirty="0" smtClean="0"/>
              <a:t>ランクを取得できたらタイトル</a:t>
            </a:r>
            <a:r>
              <a:rPr lang="ja-JP" altLang="en-US" dirty="0" smtClean="0"/>
              <a:t>にトロフィー</a:t>
            </a:r>
            <a:r>
              <a:rPr lang="ja-JP" altLang="en-US" dirty="0" smtClean="0"/>
              <a:t>が置かれる</a:t>
            </a:r>
            <a:endParaRPr lang="en-US" altLang="ja-JP" dirty="0"/>
          </a:p>
        </p:txBody>
      </p:sp>
    </p:spTree>
    <p:extLst>
      <p:ext uri="{BB962C8B-B14F-4D97-AF65-F5344CB8AC3E}">
        <p14:creationId xmlns:p14="http://schemas.microsoft.com/office/powerpoint/2010/main" val="381124652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b="1" dirty="0"/>
              <a:t>ゲームの大まかな動き</a:t>
            </a:r>
          </a:p>
        </p:txBody>
      </p:sp>
      <p:sp>
        <p:nvSpPr>
          <p:cNvPr id="3" name="コンテンツ プレースホルダー 2"/>
          <p:cNvSpPr>
            <a:spLocks noGrp="1"/>
          </p:cNvSpPr>
          <p:nvPr>
            <p:ph idx="1"/>
          </p:nvPr>
        </p:nvSpPr>
        <p:spPr>
          <a:xfrm>
            <a:off x="838200" y="1490065"/>
            <a:ext cx="10515600" cy="3383940"/>
          </a:xfrm>
        </p:spPr>
        <p:txBody>
          <a:bodyPr>
            <a:normAutofit/>
          </a:bodyPr>
          <a:lstStyle/>
          <a:p>
            <a:r>
              <a:rPr lang="ja-JP" altLang="en-US" dirty="0"/>
              <a:t>購入</a:t>
            </a:r>
            <a:r>
              <a:rPr kumimoji="1" lang="ja-JP" altLang="en-US" dirty="0"/>
              <a:t>パートでパークを購入して自分を強化していく。</a:t>
            </a:r>
            <a:endParaRPr kumimoji="1" lang="en-US" altLang="ja-JP" dirty="0"/>
          </a:p>
          <a:p>
            <a:r>
              <a:rPr lang="ja-JP" altLang="en-US" dirty="0"/>
              <a:t>採取する鍬の耐久値がなくなったらお金を消費して新しく買わなければ</a:t>
            </a:r>
            <a:r>
              <a:rPr lang="ja-JP" altLang="en-US" dirty="0" smtClean="0"/>
              <a:t>ならない</a:t>
            </a:r>
            <a:endParaRPr lang="en-US" altLang="ja-JP" dirty="0"/>
          </a:p>
          <a:p>
            <a:r>
              <a:rPr lang="ja-JP" altLang="en-US" smtClean="0"/>
              <a:t>鍬がない状態で鍬</a:t>
            </a:r>
            <a:r>
              <a:rPr lang="ja-JP" altLang="en-US" dirty="0"/>
              <a:t>を</a:t>
            </a:r>
            <a:r>
              <a:rPr lang="ja-JP" altLang="en-US" dirty="0" smtClean="0"/>
              <a:t>買えなく</a:t>
            </a:r>
            <a:r>
              <a:rPr lang="ja-JP" altLang="en-US" dirty="0" smtClean="0"/>
              <a:t>なったら</a:t>
            </a:r>
            <a:r>
              <a:rPr lang="ja-JP" altLang="en-US" dirty="0" smtClean="0"/>
              <a:t>ゲームオーバー</a:t>
            </a:r>
            <a:endParaRPr lang="en-US" altLang="ja-JP" dirty="0" smtClean="0"/>
          </a:p>
          <a:p>
            <a:r>
              <a:rPr kumimoji="1" lang="ja-JP" altLang="en-US" dirty="0" smtClean="0"/>
              <a:t>自身のお金を管理しながら進めないといけない</a:t>
            </a:r>
            <a:endParaRPr kumimoji="1" lang="en-US" altLang="ja-JP" dirty="0"/>
          </a:p>
          <a:p>
            <a:endParaRPr kumimoji="1" lang="en-US" altLang="ja-JP" dirty="0"/>
          </a:p>
        </p:txBody>
      </p:sp>
      <p:grpSp>
        <p:nvGrpSpPr>
          <p:cNvPr id="5" name="グループ化 4"/>
          <p:cNvGrpSpPr/>
          <p:nvPr/>
        </p:nvGrpSpPr>
        <p:grpSpPr>
          <a:xfrm>
            <a:off x="1414981" y="4437740"/>
            <a:ext cx="8965950" cy="1689757"/>
            <a:chOff x="1529281" y="4412340"/>
            <a:chExt cx="8965950" cy="1689757"/>
          </a:xfrm>
        </p:grpSpPr>
        <p:sp>
          <p:nvSpPr>
            <p:cNvPr id="4" name="正方形/長方形 3">
              <a:extLst>
                <a:ext uri="{FF2B5EF4-FFF2-40B4-BE49-F238E27FC236}">
                  <a16:creationId xmlns:a16="http://schemas.microsoft.com/office/drawing/2014/main" id="{1B9A147A-8F59-CEFA-CC2A-93699956386C}"/>
                </a:ext>
              </a:extLst>
            </p:cNvPr>
            <p:cNvSpPr/>
            <p:nvPr/>
          </p:nvSpPr>
          <p:spPr>
            <a:xfrm>
              <a:off x="1529281" y="4412340"/>
              <a:ext cx="2109458" cy="1689757"/>
            </a:xfrm>
            <a:prstGeom prst="rect">
              <a:avLst/>
            </a:prstGeom>
            <a:solidFill>
              <a:schemeClr val="accent6">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t>採取パート</a:t>
              </a:r>
            </a:p>
          </p:txBody>
        </p:sp>
        <p:sp>
          <p:nvSpPr>
            <p:cNvPr id="9" name="正方形/長方形 8">
              <a:extLst>
                <a:ext uri="{FF2B5EF4-FFF2-40B4-BE49-F238E27FC236}">
                  <a16:creationId xmlns:a16="http://schemas.microsoft.com/office/drawing/2014/main" id="{A7333689-DC3C-3E7F-DA67-4749C70D7186}"/>
                </a:ext>
              </a:extLst>
            </p:cNvPr>
            <p:cNvSpPr/>
            <p:nvPr/>
          </p:nvSpPr>
          <p:spPr>
            <a:xfrm>
              <a:off x="8385773" y="4412340"/>
              <a:ext cx="2109458" cy="1689757"/>
            </a:xfrm>
            <a:prstGeom prst="rect">
              <a:avLst/>
            </a:prstGeom>
            <a:solidFill>
              <a:schemeClr val="accent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b="1" dirty="0"/>
                <a:t>購入</a:t>
              </a:r>
              <a:r>
                <a:rPr kumimoji="1" lang="ja-JP" altLang="en-US" sz="2400" b="1" dirty="0"/>
                <a:t>パート</a:t>
              </a:r>
            </a:p>
          </p:txBody>
        </p:sp>
        <p:cxnSp>
          <p:nvCxnSpPr>
            <p:cNvPr id="14" name="直線矢印コネクタ 13">
              <a:extLst>
                <a:ext uri="{FF2B5EF4-FFF2-40B4-BE49-F238E27FC236}">
                  <a16:creationId xmlns:a16="http://schemas.microsoft.com/office/drawing/2014/main" id="{78FF2947-0A4E-7296-C9B9-C2CF2B649433}"/>
                </a:ext>
              </a:extLst>
            </p:cNvPr>
            <p:cNvCxnSpPr>
              <a:cxnSpLocks/>
            </p:cNvCxnSpPr>
            <p:nvPr/>
          </p:nvCxnSpPr>
          <p:spPr>
            <a:xfrm>
              <a:off x="3638739" y="5676585"/>
              <a:ext cx="4747034" cy="0"/>
            </a:xfrm>
            <a:prstGeom prst="straightConnector1">
              <a:avLst/>
            </a:prstGeom>
            <a:ln w="38100">
              <a:solidFill>
                <a:schemeClr val="tx1">
                  <a:lumMod val="95000"/>
                  <a:lumOff val="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矢印: 左カーブ 15">
              <a:extLst>
                <a:ext uri="{FF2B5EF4-FFF2-40B4-BE49-F238E27FC236}">
                  <a16:creationId xmlns:a16="http://schemas.microsoft.com/office/drawing/2014/main" id="{EBA0A7A7-1218-CB5C-57A6-30D1E77A40B0}"/>
                </a:ext>
              </a:extLst>
            </p:cNvPr>
            <p:cNvSpPr/>
            <p:nvPr/>
          </p:nvSpPr>
          <p:spPr>
            <a:xfrm>
              <a:off x="3638739" y="4755912"/>
              <a:ext cx="660903" cy="334204"/>
            </a:xfrm>
            <a:prstGeom prst="curvedLeftArrow">
              <a:avLst/>
            </a:prstGeom>
            <a:solidFill>
              <a:schemeClr val="tx1">
                <a:lumMod val="95000"/>
                <a:lumOff val="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7" name="テキスト ボックス 16">
              <a:extLst>
                <a:ext uri="{FF2B5EF4-FFF2-40B4-BE49-F238E27FC236}">
                  <a16:creationId xmlns:a16="http://schemas.microsoft.com/office/drawing/2014/main" id="{DD299686-EA69-FFF5-ABA1-813111544455}"/>
                </a:ext>
              </a:extLst>
            </p:cNvPr>
            <p:cNvSpPr txBox="1"/>
            <p:nvPr/>
          </p:nvSpPr>
          <p:spPr>
            <a:xfrm>
              <a:off x="4381123" y="4412340"/>
              <a:ext cx="3111877" cy="923330"/>
            </a:xfrm>
            <a:prstGeom prst="rect">
              <a:avLst/>
            </a:prstGeom>
            <a:solidFill>
              <a:schemeClr val="accent3">
                <a:lumMod val="20000"/>
                <a:lumOff val="80000"/>
              </a:schemeClr>
            </a:solidFill>
            <a:ln w="28575">
              <a:solidFill>
                <a:srgbClr val="FF0000"/>
              </a:solidFill>
            </a:ln>
          </p:spPr>
          <p:txBody>
            <a:bodyPr wrap="square" rtlCol="0">
              <a:spAutoFit/>
            </a:bodyPr>
            <a:lstStyle/>
            <a:p>
              <a:r>
                <a:rPr kumimoji="1" lang="ja-JP" altLang="en-US" dirty="0"/>
                <a:t>鍬があるならそのまま</a:t>
              </a:r>
              <a:r>
                <a:rPr kumimoji="1" lang="ja-JP" altLang="en-US" dirty="0" smtClean="0"/>
                <a:t>採取</a:t>
              </a:r>
              <a:r>
                <a:rPr lang="ja-JP" altLang="en-US" dirty="0"/>
                <a:t>パート</a:t>
              </a:r>
              <a:r>
                <a:rPr kumimoji="1" lang="ja-JP" altLang="en-US" dirty="0" smtClean="0"/>
                <a:t>を</a:t>
              </a:r>
              <a:r>
                <a:rPr kumimoji="1" lang="ja-JP" altLang="en-US" dirty="0"/>
                <a:t>続行することもできる。</a:t>
              </a:r>
            </a:p>
          </p:txBody>
        </p:sp>
      </p:grpSp>
    </p:spTree>
    <p:extLst>
      <p:ext uri="{BB962C8B-B14F-4D97-AF65-F5344CB8AC3E}">
        <p14:creationId xmlns:p14="http://schemas.microsoft.com/office/powerpoint/2010/main" val="165755495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b="1" dirty="0"/>
              <a:t>採取パート</a:t>
            </a:r>
          </a:p>
        </p:txBody>
      </p:sp>
      <p:sp>
        <p:nvSpPr>
          <p:cNvPr id="3" name="コンテンツ プレースホルダー 2"/>
          <p:cNvSpPr>
            <a:spLocks noGrp="1"/>
          </p:cNvSpPr>
          <p:nvPr>
            <p:ph idx="1"/>
          </p:nvPr>
        </p:nvSpPr>
        <p:spPr>
          <a:xfrm>
            <a:off x="838200" y="1540399"/>
            <a:ext cx="10515600" cy="4351338"/>
          </a:xfrm>
        </p:spPr>
        <p:txBody>
          <a:bodyPr/>
          <a:lstStyle/>
          <a:p>
            <a:r>
              <a:rPr lang="ja-JP" altLang="en-US" dirty="0"/>
              <a:t>畑の中のランダムな場所に作物が生成される。</a:t>
            </a:r>
            <a:endParaRPr lang="en-US" altLang="ja-JP" dirty="0"/>
          </a:p>
          <a:p>
            <a:r>
              <a:rPr lang="ja-JP" altLang="en-US" dirty="0"/>
              <a:t>作物を採取した時点でお金を入手することができる</a:t>
            </a:r>
            <a:r>
              <a:rPr lang="ja-JP" altLang="en-US" dirty="0" smtClean="0"/>
              <a:t>。</a:t>
            </a:r>
            <a:endParaRPr lang="en-US" altLang="ja-JP" dirty="0"/>
          </a:p>
          <a:p>
            <a:r>
              <a:rPr lang="ja-JP" altLang="en-US" dirty="0"/>
              <a:t>作物の出現時間を過ぎると畑の作物がすべて消える</a:t>
            </a:r>
            <a:r>
              <a:rPr lang="ja-JP" altLang="en-US" dirty="0" smtClean="0"/>
              <a:t>。</a:t>
            </a:r>
            <a:endParaRPr lang="en-US" altLang="ja-JP" dirty="0"/>
          </a:p>
          <a:p>
            <a:r>
              <a:rPr lang="ja-JP" altLang="en-US" dirty="0" smtClean="0"/>
              <a:t>出現時間</a:t>
            </a:r>
            <a:r>
              <a:rPr kumimoji="1" lang="ja-JP" altLang="en-US" dirty="0" smtClean="0"/>
              <a:t>が</a:t>
            </a:r>
            <a:r>
              <a:rPr kumimoji="1" lang="ja-JP" altLang="en-US" dirty="0"/>
              <a:t>余っていても、畑の外</a:t>
            </a:r>
            <a:r>
              <a:rPr kumimoji="1" lang="ja-JP" altLang="en-US" dirty="0" smtClean="0"/>
              <a:t>に</a:t>
            </a:r>
            <a:r>
              <a:rPr lang="ja-JP" altLang="en-US" dirty="0" smtClean="0"/>
              <a:t>出れるが作物は消える</a:t>
            </a:r>
            <a:r>
              <a:rPr kumimoji="1" lang="ja-JP" altLang="en-US" dirty="0" smtClean="0"/>
              <a:t>。</a:t>
            </a:r>
            <a:endParaRPr kumimoji="1" lang="ja-JP" altLang="en-US" dirty="0"/>
          </a:p>
        </p:txBody>
      </p:sp>
      <p:sp>
        <p:nvSpPr>
          <p:cNvPr id="4" name="テキスト ボックス 3"/>
          <p:cNvSpPr txBox="1"/>
          <p:nvPr/>
        </p:nvSpPr>
        <p:spPr>
          <a:xfrm>
            <a:off x="838200" y="4260521"/>
            <a:ext cx="7010400" cy="1631216"/>
          </a:xfrm>
          <a:prstGeom prst="rect">
            <a:avLst/>
          </a:prstGeom>
          <a:noFill/>
        </p:spPr>
        <p:txBody>
          <a:bodyPr wrap="square" rtlCol="0">
            <a:spAutoFit/>
          </a:bodyPr>
          <a:lstStyle/>
          <a:p>
            <a:r>
              <a:rPr kumimoji="1" lang="ja-JP" altLang="en-US" sz="2000" dirty="0"/>
              <a:t>初期の畑のステータス（仮）</a:t>
            </a:r>
            <a:endParaRPr kumimoji="1" lang="en-US" altLang="ja-JP" sz="2000" dirty="0"/>
          </a:p>
          <a:p>
            <a:r>
              <a:rPr lang="ja-JP" altLang="en-US" sz="2000" dirty="0"/>
              <a:t>・出現時間　  </a:t>
            </a:r>
            <a:r>
              <a:rPr lang="en-US" altLang="ja-JP" sz="2000" dirty="0"/>
              <a:t>5</a:t>
            </a:r>
            <a:r>
              <a:rPr lang="ja-JP" altLang="en-US" sz="2000" dirty="0"/>
              <a:t>秒</a:t>
            </a:r>
            <a:endParaRPr lang="en-US" altLang="ja-JP" sz="2000" dirty="0"/>
          </a:p>
          <a:p>
            <a:r>
              <a:rPr lang="ja-JP" altLang="en-US" sz="2000" dirty="0"/>
              <a:t>・最大個数　</a:t>
            </a:r>
            <a:r>
              <a:rPr lang="en-US" altLang="ja-JP" sz="2000" dirty="0"/>
              <a:t>10</a:t>
            </a:r>
            <a:r>
              <a:rPr lang="ja-JP" altLang="en-US" sz="2000" dirty="0"/>
              <a:t>個</a:t>
            </a:r>
            <a:endParaRPr lang="en-US" altLang="ja-JP" sz="2000" dirty="0"/>
          </a:p>
          <a:p>
            <a:r>
              <a:rPr lang="ja-JP" altLang="en-US" sz="2000" dirty="0"/>
              <a:t>・出現する作物　　通常のカブ</a:t>
            </a:r>
            <a:r>
              <a:rPr lang="en-US" altLang="ja-JP" sz="2000" dirty="0"/>
              <a:t>(</a:t>
            </a:r>
            <a:r>
              <a:rPr lang="ja-JP" altLang="en-US" sz="2000" dirty="0"/>
              <a:t>価値 </a:t>
            </a:r>
            <a:r>
              <a:rPr lang="en-US" altLang="ja-JP" sz="2000" dirty="0"/>
              <a:t>:  2G,</a:t>
            </a:r>
            <a:r>
              <a:rPr lang="ja-JP" altLang="en-US" sz="2000" dirty="0"/>
              <a:t>作物体力 </a:t>
            </a:r>
            <a:r>
              <a:rPr lang="en-US" altLang="ja-JP" sz="2000" dirty="0"/>
              <a:t>: 3)</a:t>
            </a:r>
          </a:p>
          <a:p>
            <a:r>
              <a:rPr lang="ja-JP" altLang="en-US" sz="2000" dirty="0"/>
              <a:t>　　　　　　　　悪い色のカブ</a:t>
            </a:r>
            <a:r>
              <a:rPr lang="en-US" altLang="ja-JP" sz="2000" dirty="0"/>
              <a:t>(</a:t>
            </a:r>
            <a:r>
              <a:rPr lang="ja-JP" altLang="en-US" sz="2000" dirty="0"/>
              <a:t>価値 </a:t>
            </a:r>
            <a:r>
              <a:rPr lang="en-US" altLang="ja-JP" sz="2000" dirty="0"/>
              <a:t>: -1G,</a:t>
            </a:r>
            <a:r>
              <a:rPr lang="ja-JP" altLang="en-US" sz="2000" dirty="0"/>
              <a:t>作物体力 </a:t>
            </a:r>
            <a:r>
              <a:rPr lang="en-US" altLang="ja-JP" sz="2000" dirty="0"/>
              <a:t>: 2)</a:t>
            </a:r>
          </a:p>
        </p:txBody>
      </p:sp>
    </p:spTree>
    <p:extLst>
      <p:ext uri="{BB962C8B-B14F-4D97-AF65-F5344CB8AC3E}">
        <p14:creationId xmlns:p14="http://schemas.microsoft.com/office/powerpoint/2010/main" val="24906258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b="1" dirty="0"/>
              <a:t>作物の種類</a:t>
            </a:r>
          </a:p>
        </p:txBody>
      </p:sp>
      <p:sp>
        <p:nvSpPr>
          <p:cNvPr id="3" name="コンテンツ プレースホルダー 2"/>
          <p:cNvSpPr>
            <a:spLocks noGrp="1"/>
          </p:cNvSpPr>
          <p:nvPr>
            <p:ph idx="1"/>
          </p:nvPr>
        </p:nvSpPr>
        <p:spPr>
          <a:xfrm>
            <a:off x="593756" y="1567752"/>
            <a:ext cx="10515600" cy="3308438"/>
          </a:xfrm>
        </p:spPr>
        <p:txBody>
          <a:bodyPr>
            <a:normAutofit fontScale="92500" lnSpcReduction="10000"/>
          </a:bodyPr>
          <a:lstStyle/>
          <a:p>
            <a:r>
              <a:rPr kumimoji="1" lang="ja-JP" altLang="en-US" dirty="0"/>
              <a:t>通常の作物・・・普通の作物で</a:t>
            </a:r>
            <a:r>
              <a:rPr kumimoji="1" lang="ja-JP" altLang="en-US" dirty="0" smtClean="0"/>
              <a:t>、</a:t>
            </a:r>
            <a:r>
              <a:rPr lang="ja-JP" altLang="en-US" dirty="0" smtClean="0"/>
              <a:t>採取した時点でお金を得ることができる</a:t>
            </a:r>
            <a:endParaRPr kumimoji="1" lang="en-US" altLang="ja-JP" dirty="0"/>
          </a:p>
          <a:p>
            <a:pPr marL="0" indent="0">
              <a:buNone/>
            </a:pPr>
            <a:endParaRPr lang="en-US" altLang="ja-JP" dirty="0"/>
          </a:p>
          <a:p>
            <a:r>
              <a:rPr lang="ja-JP" altLang="en-US" dirty="0"/>
              <a:t>悪い色の作物・・・色</a:t>
            </a:r>
            <a:r>
              <a:rPr lang="ja-JP" altLang="en-US" dirty="0" smtClean="0"/>
              <a:t>の</a:t>
            </a:r>
            <a:r>
              <a:rPr lang="ja-JP" altLang="en-US" dirty="0"/>
              <a:t>悪い</a:t>
            </a:r>
            <a:r>
              <a:rPr lang="ja-JP" altLang="en-US" dirty="0" smtClean="0"/>
              <a:t>作物で採取してしまうとお金を取られてしまう</a:t>
            </a:r>
            <a:endParaRPr lang="en-US" altLang="ja-JP" dirty="0"/>
          </a:p>
          <a:p>
            <a:pPr marL="0" indent="0">
              <a:buNone/>
            </a:pPr>
            <a:endParaRPr kumimoji="1" lang="en-US" altLang="ja-JP" dirty="0"/>
          </a:p>
          <a:p>
            <a:r>
              <a:rPr kumimoji="1" lang="ja-JP" altLang="en-US" dirty="0"/>
              <a:t>爆発する作物・・・普通の作物に似ているが</a:t>
            </a:r>
            <a:r>
              <a:rPr lang="ja-JP" altLang="en-US" dirty="0"/>
              <a:t>エフェクトや</a:t>
            </a:r>
            <a:r>
              <a:rPr kumimoji="1" lang="ja-JP" altLang="en-US" dirty="0"/>
              <a:t>葉など一部の形状が</a:t>
            </a:r>
            <a:r>
              <a:rPr kumimoji="1" lang="ja-JP" altLang="en-US" dirty="0" smtClean="0"/>
              <a:t>違う</a:t>
            </a:r>
            <a:endParaRPr kumimoji="1" lang="en-US" altLang="ja-JP" dirty="0"/>
          </a:p>
        </p:txBody>
      </p:sp>
      <p:sp>
        <p:nvSpPr>
          <p:cNvPr id="4" name="テキスト ボックス 3"/>
          <p:cNvSpPr txBox="1"/>
          <p:nvPr/>
        </p:nvSpPr>
        <p:spPr>
          <a:xfrm>
            <a:off x="1473200" y="4991100"/>
            <a:ext cx="812800" cy="1446550"/>
          </a:xfrm>
          <a:prstGeom prst="rect">
            <a:avLst/>
          </a:prstGeom>
          <a:noFill/>
        </p:spPr>
        <p:txBody>
          <a:bodyPr wrap="square" rtlCol="0">
            <a:spAutoFit/>
          </a:bodyPr>
          <a:lstStyle/>
          <a:p>
            <a:r>
              <a:rPr lang="ja-JP" altLang="en-US" sz="8800" dirty="0" smtClean="0">
                <a:solidFill>
                  <a:srgbClr val="FF0000"/>
                </a:solidFill>
              </a:rPr>
              <a:t>🍎</a:t>
            </a:r>
            <a:endParaRPr kumimoji="1" lang="ja-JP" altLang="en-US" sz="8800" dirty="0">
              <a:solidFill>
                <a:srgbClr val="FF0000"/>
              </a:solidFill>
            </a:endParaRPr>
          </a:p>
        </p:txBody>
      </p:sp>
      <p:sp>
        <p:nvSpPr>
          <p:cNvPr id="8" name="テキスト ボックス 7"/>
          <p:cNvSpPr txBox="1"/>
          <p:nvPr/>
        </p:nvSpPr>
        <p:spPr>
          <a:xfrm>
            <a:off x="5089556" y="4991100"/>
            <a:ext cx="1524000" cy="1446550"/>
          </a:xfrm>
          <a:prstGeom prst="rect">
            <a:avLst/>
          </a:prstGeom>
          <a:noFill/>
        </p:spPr>
        <p:txBody>
          <a:bodyPr wrap="square" rtlCol="0">
            <a:spAutoFit/>
          </a:bodyPr>
          <a:lstStyle/>
          <a:p>
            <a:r>
              <a:rPr lang="ja-JP" altLang="en-US" sz="8800" dirty="0" smtClean="0">
                <a:solidFill>
                  <a:srgbClr val="C00000"/>
                </a:solidFill>
              </a:rPr>
              <a:t>🍎</a:t>
            </a:r>
            <a:endParaRPr kumimoji="1" lang="ja-JP" altLang="en-US" sz="8800" dirty="0">
              <a:solidFill>
                <a:srgbClr val="C00000"/>
              </a:solidFill>
            </a:endParaRPr>
          </a:p>
        </p:txBody>
      </p:sp>
      <p:grpSp>
        <p:nvGrpSpPr>
          <p:cNvPr id="11" name="グループ化 10"/>
          <p:cNvGrpSpPr/>
          <p:nvPr/>
        </p:nvGrpSpPr>
        <p:grpSpPr>
          <a:xfrm>
            <a:off x="8617012" y="4937239"/>
            <a:ext cx="1600200" cy="1554272"/>
            <a:chOff x="8013700" y="4937239"/>
            <a:chExt cx="1600200" cy="1554272"/>
          </a:xfrm>
        </p:grpSpPr>
        <p:sp>
          <p:nvSpPr>
            <p:cNvPr id="9" name="テキスト ボックス 8"/>
            <p:cNvSpPr txBox="1"/>
            <p:nvPr/>
          </p:nvSpPr>
          <p:spPr>
            <a:xfrm>
              <a:off x="8013700" y="4937239"/>
              <a:ext cx="1600200" cy="1554272"/>
            </a:xfrm>
            <a:prstGeom prst="rect">
              <a:avLst/>
            </a:prstGeom>
            <a:noFill/>
          </p:spPr>
          <p:txBody>
            <a:bodyPr wrap="square" rtlCol="0">
              <a:spAutoFit/>
            </a:bodyPr>
            <a:lstStyle/>
            <a:p>
              <a:r>
                <a:rPr lang="ja-JP" altLang="en-US" sz="9500" dirty="0" smtClean="0">
                  <a:solidFill>
                    <a:srgbClr val="FFC000"/>
                  </a:solidFill>
                </a:rPr>
                <a:t>🍎</a:t>
              </a:r>
              <a:endParaRPr kumimoji="1" lang="ja-JP" altLang="en-US" sz="9500" dirty="0">
                <a:solidFill>
                  <a:srgbClr val="FFC000"/>
                </a:solidFill>
              </a:endParaRPr>
            </a:p>
          </p:txBody>
        </p:sp>
        <p:sp>
          <p:nvSpPr>
            <p:cNvPr id="10" name="テキスト ボックス 9"/>
            <p:cNvSpPr txBox="1"/>
            <p:nvPr/>
          </p:nvSpPr>
          <p:spPr>
            <a:xfrm>
              <a:off x="8102600" y="5052655"/>
              <a:ext cx="812800" cy="1323439"/>
            </a:xfrm>
            <a:prstGeom prst="rect">
              <a:avLst/>
            </a:prstGeom>
            <a:noFill/>
          </p:spPr>
          <p:txBody>
            <a:bodyPr wrap="square" rtlCol="0">
              <a:spAutoFit/>
            </a:bodyPr>
            <a:lstStyle/>
            <a:p>
              <a:r>
                <a:rPr lang="ja-JP" altLang="en-US" sz="8000" dirty="0" smtClean="0">
                  <a:solidFill>
                    <a:srgbClr val="FF0000"/>
                  </a:solidFill>
                </a:rPr>
                <a:t>🍎</a:t>
              </a:r>
              <a:endParaRPr kumimoji="1" lang="ja-JP" altLang="en-US" sz="8000" dirty="0">
                <a:solidFill>
                  <a:srgbClr val="FF0000"/>
                </a:solidFill>
              </a:endParaRPr>
            </a:p>
          </p:txBody>
        </p:sp>
      </p:grpSp>
    </p:spTree>
    <p:extLst>
      <p:ext uri="{BB962C8B-B14F-4D97-AF65-F5344CB8AC3E}">
        <p14:creationId xmlns:p14="http://schemas.microsoft.com/office/powerpoint/2010/main" val="685127799"/>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b="1" dirty="0"/>
              <a:t>購入</a:t>
            </a:r>
            <a:r>
              <a:rPr kumimoji="1" lang="ja-JP" altLang="en-US" b="1" dirty="0"/>
              <a:t>パート</a:t>
            </a:r>
          </a:p>
        </p:txBody>
      </p:sp>
      <p:sp>
        <p:nvSpPr>
          <p:cNvPr id="3" name="コンテンツ プレースホルダー 2"/>
          <p:cNvSpPr>
            <a:spLocks noGrp="1"/>
          </p:cNvSpPr>
          <p:nvPr>
            <p:ph idx="1"/>
          </p:nvPr>
        </p:nvSpPr>
        <p:spPr>
          <a:xfrm>
            <a:off x="838200" y="1627465"/>
            <a:ext cx="10515600" cy="2676088"/>
          </a:xfrm>
        </p:spPr>
        <p:txBody>
          <a:bodyPr>
            <a:normAutofit/>
          </a:bodyPr>
          <a:lstStyle/>
          <a:p>
            <a:r>
              <a:rPr kumimoji="1" lang="ja-JP" altLang="en-US" dirty="0"/>
              <a:t>採取パートで得たお金を使ってパークや鍬を購入することが</a:t>
            </a:r>
            <a:r>
              <a:rPr kumimoji="1" lang="ja-JP" altLang="en-US" dirty="0" smtClean="0"/>
              <a:t>できる</a:t>
            </a:r>
            <a:endParaRPr lang="en-US" altLang="ja-JP" dirty="0"/>
          </a:p>
          <a:p>
            <a:r>
              <a:rPr lang="ja-JP" altLang="en-US" dirty="0"/>
              <a:t>パークの取得にもお金を使用するので、鍬を買うためのお金と兼ね合いながらパークを開放しないといけない。</a:t>
            </a:r>
            <a:endParaRPr lang="en-US" altLang="ja-JP" dirty="0"/>
          </a:p>
        </p:txBody>
      </p:sp>
      <p:sp>
        <p:nvSpPr>
          <p:cNvPr id="4" name="正方形/長方形 3"/>
          <p:cNvSpPr/>
          <p:nvPr/>
        </p:nvSpPr>
        <p:spPr>
          <a:xfrm>
            <a:off x="838200" y="4091081"/>
            <a:ext cx="5410200" cy="1938992"/>
          </a:xfrm>
          <a:prstGeom prst="rect">
            <a:avLst/>
          </a:prstGeom>
        </p:spPr>
        <p:txBody>
          <a:bodyPr wrap="square">
            <a:spAutoFit/>
          </a:bodyPr>
          <a:lstStyle/>
          <a:p>
            <a:r>
              <a:rPr lang="ja-JP" altLang="en-US" sz="2400" dirty="0"/>
              <a:t>パーク例</a:t>
            </a:r>
            <a:endParaRPr lang="en-US" altLang="ja-JP" sz="2400" dirty="0"/>
          </a:p>
          <a:p>
            <a:r>
              <a:rPr lang="ja-JP" altLang="en-US" sz="2400" dirty="0"/>
              <a:t>作物追加　ナス、トマト、キノコなど</a:t>
            </a:r>
            <a:endParaRPr lang="en-US" altLang="ja-JP" sz="2400" dirty="0"/>
          </a:p>
          <a:p>
            <a:r>
              <a:rPr lang="ja-JP" altLang="en-US" sz="2400" dirty="0"/>
              <a:t>出現時間</a:t>
            </a:r>
            <a:r>
              <a:rPr lang="en-US" altLang="ja-JP" sz="2400" dirty="0"/>
              <a:t>+1/s</a:t>
            </a:r>
          </a:p>
          <a:p>
            <a:r>
              <a:rPr lang="ja-JP" altLang="en-US" sz="2400" dirty="0"/>
              <a:t>作物の価値</a:t>
            </a:r>
            <a:r>
              <a:rPr lang="en-US" altLang="ja-JP" sz="2400" dirty="0"/>
              <a:t>2</a:t>
            </a:r>
            <a:r>
              <a:rPr lang="ja-JP" altLang="en-US" sz="2400" dirty="0"/>
              <a:t>倍</a:t>
            </a:r>
            <a:endParaRPr lang="en-US" altLang="ja-JP" sz="2400" dirty="0"/>
          </a:p>
          <a:p>
            <a:r>
              <a:rPr lang="ja-JP" altLang="en-US" sz="2400" dirty="0"/>
              <a:t>最大出現数</a:t>
            </a:r>
            <a:r>
              <a:rPr lang="en-US" altLang="ja-JP" sz="2400" dirty="0"/>
              <a:t>+5</a:t>
            </a:r>
            <a:r>
              <a:rPr lang="ja-JP" altLang="en-US" sz="2400" dirty="0"/>
              <a:t>　　など</a:t>
            </a:r>
            <a:endParaRPr lang="en-US" altLang="ja-JP" sz="2400" dirty="0"/>
          </a:p>
        </p:txBody>
      </p:sp>
      <p:sp>
        <p:nvSpPr>
          <p:cNvPr id="5" name="正方形/長方形 4"/>
          <p:cNvSpPr/>
          <p:nvPr/>
        </p:nvSpPr>
        <p:spPr>
          <a:xfrm>
            <a:off x="7467600" y="4091081"/>
            <a:ext cx="4241800" cy="1200329"/>
          </a:xfrm>
          <a:prstGeom prst="rect">
            <a:avLst/>
          </a:prstGeom>
        </p:spPr>
        <p:txBody>
          <a:bodyPr wrap="square">
            <a:spAutoFit/>
          </a:bodyPr>
          <a:lstStyle/>
          <a:p>
            <a:r>
              <a:rPr lang="ja-JP" altLang="en-US" sz="2400" dirty="0" smtClean="0"/>
              <a:t>鍬の初期ステータス</a:t>
            </a:r>
            <a:endParaRPr lang="en-US" altLang="ja-JP" sz="2400" dirty="0" smtClean="0"/>
          </a:p>
          <a:p>
            <a:r>
              <a:rPr lang="ja-JP" altLang="en-US" sz="2400" dirty="0" smtClean="0"/>
              <a:t>耐久値　  </a:t>
            </a:r>
            <a:r>
              <a:rPr lang="en-US" altLang="ja-JP" sz="2400" dirty="0" smtClean="0"/>
              <a:t>20</a:t>
            </a:r>
          </a:p>
          <a:p>
            <a:r>
              <a:rPr lang="ja-JP" altLang="en-US" sz="2400" dirty="0" smtClean="0"/>
              <a:t>購入金額    </a:t>
            </a:r>
            <a:r>
              <a:rPr lang="en-US" altLang="ja-JP" sz="2400" dirty="0" smtClean="0"/>
              <a:t>3</a:t>
            </a:r>
            <a:r>
              <a:rPr lang="ja-JP" altLang="en-US" sz="2400" dirty="0" smtClean="0"/>
              <a:t>（カブ</a:t>
            </a:r>
            <a:r>
              <a:rPr lang="en-US" altLang="ja-JP" sz="2400" dirty="0" smtClean="0"/>
              <a:t>2</a:t>
            </a:r>
            <a:r>
              <a:rPr lang="ja-JP" altLang="en-US" sz="2400" dirty="0" smtClean="0"/>
              <a:t>個分）</a:t>
            </a:r>
            <a:endParaRPr lang="en-US" altLang="ja-JP" sz="2400" dirty="0"/>
          </a:p>
        </p:txBody>
      </p:sp>
    </p:spTree>
    <p:extLst>
      <p:ext uri="{BB962C8B-B14F-4D97-AF65-F5344CB8AC3E}">
        <p14:creationId xmlns:p14="http://schemas.microsoft.com/office/powerpoint/2010/main" val="1600696718"/>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277</TotalTime>
  <Words>288</Words>
  <Application>Microsoft Office PowerPoint</Application>
  <PresentationFormat>ワイド画面</PresentationFormat>
  <Paragraphs>53</Paragraphs>
  <Slides>6</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6</vt:i4>
      </vt:variant>
    </vt:vector>
  </HeadingPairs>
  <TitlesOfParts>
    <vt:vector size="10" baseType="lpstr">
      <vt:lpstr>游ゴシック</vt:lpstr>
      <vt:lpstr>游ゴシック Light</vt:lpstr>
      <vt:lpstr>Arial</vt:lpstr>
      <vt:lpstr>Office テーマ</vt:lpstr>
      <vt:lpstr>FarmLife</vt:lpstr>
      <vt:lpstr>ゲームの目的</vt:lpstr>
      <vt:lpstr>ゲームの大まかな動き</vt:lpstr>
      <vt:lpstr>採取パート</vt:lpstr>
      <vt:lpstr>作物の種類</vt:lpstr>
      <vt:lpstr>購入パート</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FarmLife</dc:title>
  <dc:creator>GA3</dc:creator>
  <cp:lastModifiedBy>GA3</cp:lastModifiedBy>
  <cp:revision>111</cp:revision>
  <dcterms:created xsi:type="dcterms:W3CDTF">2026-04-13T02:03:25Z</dcterms:created>
  <dcterms:modified xsi:type="dcterms:W3CDTF">2026-04-20T00:45:38Z</dcterms:modified>
</cp:coreProperties>
</file>